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embeddedFontLst>
    <p:embeddedFont>
      <p:font typeface="Tahoma" panose="020B0604030504040204" pitchFamily="34" charset="0"/>
      <p:regular r:id="rId17"/>
      <p:bold r:id="rId18"/>
    </p:embeddedFont>
    <p:embeddedFont>
      <p:font typeface="Trebuchet MS" panose="020B0603020202020204" pitchFamily="34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3" roundtripDataSignature="AMtx7mi3EGzmIQ2HfaRYZqveV6PcizpMo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04D0236-56EF-0937-3159-78BBBC08EC07}" v="6" dt="2024-11-28T16:17:21.38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customschemas.google.com/relationships/presentationmetadata" Target="metadata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userId="S::urn:spo:anon#c6d346c2fc1c7a08fe1a4a168cfb9ff07cf83f8000e2ac8e90154f66d9e6bee0::" providerId="AD" clId="Web-{A04D0236-56EF-0937-3159-78BBBC08EC07}"/>
    <pc:docChg chg="modSld">
      <pc:chgData name="Guest User" userId="S::urn:spo:anon#c6d346c2fc1c7a08fe1a4a168cfb9ff07cf83f8000e2ac8e90154f66d9e6bee0::" providerId="AD" clId="Web-{A04D0236-56EF-0937-3159-78BBBC08EC07}" dt="2024-11-28T16:17:13.498" v="4" actId="20577"/>
      <pc:docMkLst>
        <pc:docMk/>
      </pc:docMkLst>
      <pc:sldChg chg="modSp">
        <pc:chgData name="Guest User" userId="S::urn:spo:anon#c6d346c2fc1c7a08fe1a4a168cfb9ff07cf83f8000e2ac8e90154f66d9e6bee0::" providerId="AD" clId="Web-{A04D0236-56EF-0937-3159-78BBBC08EC07}" dt="2024-11-28T16:17:13.498" v="4" actId="20577"/>
        <pc:sldMkLst>
          <pc:docMk/>
          <pc:sldMk cId="0" sldId="260"/>
        </pc:sldMkLst>
        <pc:spChg chg="mod">
          <ac:chgData name="Guest User" userId="S::urn:spo:anon#c6d346c2fc1c7a08fe1a4a168cfb9ff07cf83f8000e2ac8e90154f66d9e6bee0::" providerId="AD" clId="Web-{A04D0236-56EF-0937-3159-78BBBC08EC07}" dt="2024-11-28T16:17:13.498" v="4" actId="20577"/>
          <ac:spMkLst>
            <pc:docMk/>
            <pc:sldMk cId="0" sldId="260"/>
            <ac:spMk id="130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1" name="Google Shape;21;p16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7" name="Google Shape;27;p17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28" name="Google Shape;28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711512" y="330213"/>
            <a:ext cx="1284576" cy="6377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Google Shape;29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3317" y="0"/>
            <a:ext cx="1489765" cy="1386637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3" name="Google Shape;33;p18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Google Shape;36;p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711512" y="330213"/>
            <a:ext cx="1284576" cy="637759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19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9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9" name="Google Shape;39;p19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40" name="Google Shape;40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3317" y="0"/>
            <a:ext cx="1489765" cy="1386637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19"/>
          <p:cNvSpPr/>
          <p:nvPr/>
        </p:nvSpPr>
        <p:spPr>
          <a:xfrm>
            <a:off x="10933155" y="6344015"/>
            <a:ext cx="466090" cy="431923"/>
          </a:xfrm>
          <a:custGeom>
            <a:avLst/>
            <a:gdLst/>
            <a:ahLst/>
            <a:cxnLst/>
            <a:rect l="l" t="t" r="r" b="b"/>
            <a:pathLst>
              <a:path w="1026026" h="189485" extrusionOk="0">
                <a:moveTo>
                  <a:pt x="0" y="0"/>
                </a:moveTo>
                <a:lnTo>
                  <a:pt x="1026026" y="0"/>
                </a:lnTo>
                <a:lnTo>
                  <a:pt x="1026026" y="189485"/>
                </a:lnTo>
                <a:lnTo>
                  <a:pt x="0" y="189485"/>
                </a:lnTo>
                <a:close/>
              </a:path>
            </a:pathLst>
          </a:custGeom>
          <a:solidFill>
            <a:srgbClr val="1869A6"/>
          </a:solidFill>
          <a:ln>
            <a:noFill/>
          </a:ln>
        </p:spPr>
      </p:sp>
      <p:sp>
        <p:nvSpPr>
          <p:cNvPr id="42" name="Google Shape;42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0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20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46" name="Google Shape;46;p20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21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21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2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2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22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22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22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2" name="Google Shape;62;p22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3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7" name="Google Shape;67;p23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8" name="Google Shape;68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9" name="Google Shape;69;p23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4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4" name="Google Shape;74;p24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5" name="Google Shape;75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6" name="Google Shape;76;p24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5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2" name="Google Shape;82;p25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6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26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8" name="Google Shape;88;p26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3" name="Google Shape;93;p27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5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15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10711512" y="330213"/>
            <a:ext cx="1284576" cy="6377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2;p15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93317" y="0"/>
            <a:ext cx="1489765" cy="1386637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15"/>
          <p:cNvSpPr/>
          <p:nvPr/>
        </p:nvSpPr>
        <p:spPr>
          <a:xfrm>
            <a:off x="10974189" y="6344015"/>
            <a:ext cx="466090" cy="431923"/>
          </a:xfrm>
          <a:custGeom>
            <a:avLst/>
            <a:gdLst/>
            <a:ahLst/>
            <a:cxnLst/>
            <a:rect l="l" t="t" r="r" b="b"/>
            <a:pathLst>
              <a:path w="1026026" h="189485" extrusionOk="0">
                <a:moveTo>
                  <a:pt x="0" y="0"/>
                </a:moveTo>
                <a:lnTo>
                  <a:pt x="1026026" y="0"/>
                </a:lnTo>
                <a:lnTo>
                  <a:pt x="1026026" y="189485"/>
                </a:lnTo>
                <a:lnTo>
                  <a:pt x="0" y="189485"/>
                </a:lnTo>
                <a:close/>
              </a:path>
            </a:pathLst>
          </a:custGeom>
          <a:solidFill>
            <a:srgbClr val="1869A6"/>
          </a:solidFill>
          <a:ln>
            <a:noFill/>
          </a:ln>
        </p:spPr>
      </p:sp>
      <p:sp>
        <p:nvSpPr>
          <p:cNvPr id="14" name="Google Shape;14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5" name="Google Shape;15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6" name="Google Shape;16;p15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7" name="Google Shape;17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.jp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"/>
          <p:cNvSpPr txBox="1"/>
          <p:nvPr/>
        </p:nvSpPr>
        <p:spPr>
          <a:xfrm>
            <a:off x="1487559" y="6322814"/>
            <a:ext cx="2576441" cy="369332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9E7"/>
                </a:solidFill>
                <a:latin typeface="Calibri"/>
                <a:ea typeface="Calibri"/>
                <a:cs typeface="Calibri"/>
                <a:sym typeface="Calibri"/>
              </a:rPr>
              <a:t>17/04/2024</a:t>
            </a:r>
            <a:endParaRPr sz="1800" b="0" i="0" u="none" strike="noStrike" cap="none">
              <a:solidFill>
                <a:srgbClr val="FFF9E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sp>
        <p:nvSpPr>
          <p:cNvPr id="101" name="Google Shape;101;p1"/>
          <p:cNvSpPr txBox="1"/>
          <p:nvPr/>
        </p:nvSpPr>
        <p:spPr>
          <a:xfrm>
            <a:off x="1730828" y="3075057"/>
            <a:ext cx="8730343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Python Project for Data Science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107" name="Google Shape;107;p2"/>
          <p:cNvSpPr txBox="1"/>
          <p:nvPr/>
        </p:nvSpPr>
        <p:spPr>
          <a:xfrm>
            <a:off x="180208" y="3051119"/>
            <a:ext cx="5725543" cy="7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925" rIns="0" bIns="0" anchor="ctr" anchorCtr="0">
            <a:spAutoFit/>
          </a:bodyPr>
          <a:lstStyle/>
          <a:p>
            <a:pPr marL="16933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Trebuchet MS"/>
              <a:buNone/>
            </a:pPr>
            <a:r>
              <a:rPr lang="en-US" sz="4800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Web Scraping</a:t>
            </a:r>
            <a:endParaRPr/>
          </a:p>
        </p:txBody>
      </p:sp>
      <p:pic>
        <p:nvPicPr>
          <p:cNvPr id="108" name="Google Shape;108;p2" descr="A computer with tools and paper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53743" y="902274"/>
            <a:ext cx="5747657" cy="57476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"/>
          <p:cNvSpPr txBox="1">
            <a:spLocks noGrp="1"/>
          </p:cNvSpPr>
          <p:nvPr>
            <p:ph type="title"/>
          </p:nvPr>
        </p:nvSpPr>
        <p:spPr>
          <a:xfrm>
            <a:off x="2831320" y="1155514"/>
            <a:ext cx="6529359" cy="995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b="1">
                <a:latin typeface="Arial"/>
                <a:ea typeface="Arial"/>
                <a:cs typeface="Arial"/>
                <a:sym typeface="Arial"/>
              </a:rPr>
              <a:t>Course Overview</a:t>
            </a:r>
            <a:endParaRPr/>
          </a:p>
        </p:txBody>
      </p:sp>
      <p:sp>
        <p:nvSpPr>
          <p:cNvPr id="114" name="Google Shape;114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115" name="Google Shape;115;p3"/>
          <p:cNvSpPr txBox="1"/>
          <p:nvPr/>
        </p:nvSpPr>
        <p:spPr>
          <a:xfrm>
            <a:off x="1023257" y="2446882"/>
            <a:ext cx="10330543" cy="2352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You will perform specific data science and data analytics tasks such as extracting data, web scraping, visualizing data and creating a dashboard. This project will showcase your proficiency with Python and using libraries such as Pandas and Beautiful Soup within a Jupyter Notebook. Upon completion you will have an impressive project to add to your job portfolio. 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"/>
          <p:cNvSpPr txBox="1"/>
          <p:nvPr/>
        </p:nvSpPr>
        <p:spPr>
          <a:xfrm>
            <a:off x="804057" y="2435871"/>
            <a:ext cx="3724400" cy="27186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925" rIns="0" bIns="0" anchor="t" anchorCtr="0">
            <a:spAutoFit/>
          </a:bodyPr>
          <a:lstStyle/>
          <a:p>
            <a:pPr marL="359833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What is Web Scraping?</a:t>
            </a:r>
            <a:endParaRPr sz="2333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59833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How do we do?</a:t>
            </a:r>
            <a:endParaRPr sz="2333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59833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Tools to use</a:t>
            </a:r>
            <a:endParaRPr sz="2333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59833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Ethics for scraping</a:t>
            </a:r>
            <a:endParaRPr sz="2333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59833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Demo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4"/>
          <p:cNvSpPr txBox="1">
            <a:spLocks noGrp="1"/>
          </p:cNvSpPr>
          <p:nvPr>
            <p:ph type="title"/>
          </p:nvPr>
        </p:nvSpPr>
        <p:spPr>
          <a:xfrm>
            <a:off x="804057" y="1703522"/>
            <a:ext cx="3991469" cy="571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925" rIns="0" bIns="0" anchor="ctr" anchorCtr="0">
            <a:spAutoFit/>
          </a:bodyPr>
          <a:lstStyle/>
          <a:p>
            <a:pPr marL="16933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 b="1">
                <a:latin typeface="Arial"/>
                <a:ea typeface="Arial"/>
                <a:cs typeface="Arial"/>
                <a:sym typeface="Arial"/>
              </a:rPr>
              <a:t>Session Content</a:t>
            </a:r>
            <a:endParaRPr/>
          </a:p>
        </p:txBody>
      </p:sp>
      <p:pic>
        <p:nvPicPr>
          <p:cNvPr id="122" name="Google Shape;122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533447" y="1703522"/>
            <a:ext cx="6154306" cy="3909747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4705"/>
              </a:srgbClr>
            </a:outerShdw>
          </a:effectLst>
        </p:spPr>
      </p:pic>
      <p:sp>
        <p:nvSpPr>
          <p:cNvPr id="123" name="Google Shape;123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"/>
          <p:cNvSpPr txBox="1"/>
          <p:nvPr/>
        </p:nvSpPr>
        <p:spPr>
          <a:xfrm>
            <a:off x="515571" y="2257852"/>
            <a:ext cx="6625458" cy="3618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925" rIns="0" bIns="0" anchor="t" anchorCtr="0">
            <a:spAutoFit/>
          </a:bodyPr>
          <a:lstStyle/>
          <a:p>
            <a:pPr marL="391150" marR="11006" lvl="0" indent="-374217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1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Web scraping: </a:t>
            </a:r>
            <a:r>
              <a:rPr lang="en-US"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is technique for gathering data  or information on web pages.</a:t>
            </a:r>
            <a:br>
              <a:rPr lang="en-US"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endParaRPr sz="18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391150" marR="11853" lvl="0" indent="-374217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1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Web scraping: </a:t>
            </a:r>
            <a:r>
              <a:rPr lang="en-US"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is method to extract data from a  website that does not have an API, or we want  to extract LOT of data which we can not do  through an API due to rate limiting.</a:t>
            </a:r>
            <a:br>
              <a:rPr lang="en-US"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endParaRPr sz="18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391150" marR="24553" lvl="0" indent="-374217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Through web scraping we can extract any data  which we can see while browsing the web.</a:t>
            </a:r>
            <a:br>
              <a:rPr lang="en-US"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endParaRPr sz="18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391150" marR="6773" lvl="0" indent="-374217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You could revisit your favorite website every  time it updates for new information, Or you  could write a web scraper to have it</a:t>
            </a:r>
            <a:endParaRPr sz="18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129" name="Google Shape;129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489372" y="2257852"/>
            <a:ext cx="4187057" cy="3416890"/>
          </a:xfrm>
          <a:prstGeom prst="rect">
            <a:avLst/>
          </a:prstGeom>
          <a:solidFill>
            <a:srgbClr val="ECECEC"/>
          </a:solidFill>
          <a:ln w="88900" cap="sq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30" name="Google Shape;130;p5"/>
          <p:cNvSpPr txBox="1">
            <a:spLocks noGrp="1"/>
          </p:cNvSpPr>
          <p:nvPr>
            <p:ph type="title"/>
          </p:nvPr>
        </p:nvSpPr>
        <p:spPr>
          <a:xfrm>
            <a:off x="722399" y="1791029"/>
            <a:ext cx="5732539" cy="632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925" rIns="0" bIns="0" anchor="ctr" anchorCtr="0">
            <a:spAutoFit/>
          </a:bodyPr>
          <a:lstStyle/>
          <a:p>
            <a:pPr marL="16510">
              <a:lnSpc>
                <a:spcPct val="100000"/>
              </a:lnSpc>
              <a:buSzPts val="4000"/>
              <a:buFont typeface="Arial"/>
            </a:pPr>
            <a:r>
              <a:rPr lang="en-US" sz="4000" b="1">
                <a:latin typeface="Arial"/>
                <a:ea typeface="Arial"/>
                <a:cs typeface="Arial"/>
                <a:sym typeface="Arial"/>
              </a:rPr>
              <a:t>What is Web Scraping?</a:t>
            </a:r>
            <a:endParaRPr lang="en-US" sz="4000" b="1">
              <a:latin typeface="Arial"/>
              <a:ea typeface="Arial"/>
              <a:cs typeface="Arial"/>
            </a:endParaRPr>
          </a:p>
        </p:txBody>
      </p:sp>
      <p:sp>
        <p:nvSpPr>
          <p:cNvPr id="131" name="Google Shape;131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6"/>
          <p:cNvSpPr txBox="1"/>
          <p:nvPr/>
        </p:nvSpPr>
        <p:spPr>
          <a:xfrm>
            <a:off x="509921" y="2314238"/>
            <a:ext cx="5984769" cy="3402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925" rIns="0" bIns="0" anchor="t" anchorCtr="0">
            <a:spAutoFit/>
          </a:bodyPr>
          <a:lstStyle/>
          <a:p>
            <a:pPr marL="391150" marR="0" lvl="0" indent="-37421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Char char="•"/>
            </a:pPr>
            <a:r>
              <a:rPr lang="en-US" sz="21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Extract products information</a:t>
            </a:r>
            <a:endParaRPr sz="2133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91150" marR="0" lvl="0" indent="-37421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Char char="•"/>
            </a:pPr>
            <a:r>
              <a:rPr lang="en-US" sz="21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Extract job posting and internships</a:t>
            </a:r>
            <a:endParaRPr sz="2133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91150" marR="6773" lvl="0" indent="-37421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Char char="•"/>
            </a:pPr>
            <a:r>
              <a:rPr lang="en-US" sz="21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Extract offers and discount from deal of the day website</a:t>
            </a:r>
            <a:endParaRPr sz="2133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91150" marR="0" lvl="0" indent="-37421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Char char="•"/>
            </a:pPr>
            <a:r>
              <a:rPr lang="en-US" sz="21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Extract date to make search engine</a:t>
            </a:r>
            <a:endParaRPr sz="2133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91150" marR="0" lvl="0" indent="-37421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Char char="•"/>
            </a:pPr>
            <a:r>
              <a:rPr lang="en-US" sz="21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Gathering weather data</a:t>
            </a:r>
            <a:endParaRPr/>
          </a:p>
          <a:p>
            <a:pPr marL="391150" marR="0" lvl="0" indent="-37421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Char char="•"/>
            </a:pPr>
            <a:r>
              <a:rPr lang="en-US" sz="21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Etc.</a:t>
            </a:r>
            <a:endParaRPr sz="2133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7" name="Google Shape;137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11208" y="1928597"/>
            <a:ext cx="5063687" cy="4174245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6"/>
          <p:cNvSpPr txBox="1">
            <a:spLocks noGrp="1"/>
          </p:cNvSpPr>
          <p:nvPr>
            <p:ph type="title"/>
          </p:nvPr>
        </p:nvSpPr>
        <p:spPr>
          <a:xfrm>
            <a:off x="509921" y="1497522"/>
            <a:ext cx="5248622" cy="509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925" rIns="0" bIns="0" anchor="ctr" anchorCtr="0">
            <a:spAutoFit/>
          </a:bodyPr>
          <a:lstStyle/>
          <a:p>
            <a:pPr marL="16933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 b="1">
                <a:latin typeface="Arial"/>
                <a:ea typeface="Arial"/>
                <a:cs typeface="Arial"/>
                <a:sym typeface="Arial"/>
              </a:rPr>
              <a:t>Web Scraping in Real Life</a:t>
            </a:r>
            <a:endParaRPr sz="3200" b="1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7"/>
          <p:cNvSpPr txBox="1"/>
          <p:nvPr/>
        </p:nvSpPr>
        <p:spPr>
          <a:xfrm>
            <a:off x="607011" y="2564709"/>
            <a:ext cx="6806160" cy="2322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925" rIns="0" bIns="0" anchor="t" anchorCtr="0">
            <a:spAutoFit/>
          </a:bodyPr>
          <a:lstStyle/>
          <a:p>
            <a:pPr marL="391150" marR="0" lvl="0" indent="-374217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Char char="•"/>
            </a:pPr>
            <a:r>
              <a:rPr lang="en-US" sz="21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Web scraping is not rate limited</a:t>
            </a:r>
            <a:endParaRPr sz="2133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60"/>
              </a:spcBef>
              <a:spcAft>
                <a:spcPts val="0"/>
              </a:spcAft>
              <a:buClr>
                <a:srgbClr val="595959"/>
              </a:buClr>
              <a:buSzPts val="2067"/>
              <a:buFont typeface="Arial"/>
              <a:buNone/>
            </a:pPr>
            <a:endParaRPr sz="2067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91150" marR="6773" lvl="0" indent="-374217" algn="l" rtl="0">
              <a:spcBef>
                <a:spcPts val="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Char char="•"/>
            </a:pPr>
            <a:r>
              <a:rPr lang="en-US" sz="21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Anonymously access the website and gather data</a:t>
            </a:r>
            <a:endParaRPr/>
          </a:p>
          <a:p>
            <a:pPr marL="0" marR="0" lvl="0" indent="0" algn="l" rtl="0">
              <a:spcBef>
                <a:spcPts val="60"/>
              </a:spcBef>
              <a:spcAft>
                <a:spcPts val="0"/>
              </a:spcAft>
              <a:buClr>
                <a:srgbClr val="595959"/>
              </a:buClr>
              <a:buSzPts val="2067"/>
              <a:buFont typeface="Arial"/>
              <a:buNone/>
            </a:pPr>
            <a:endParaRPr sz="2067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91150" marR="0" lvl="0" indent="-374217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Char char="•"/>
            </a:pPr>
            <a:r>
              <a:rPr lang="en-US" sz="21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Some website don’t have API</a:t>
            </a:r>
            <a:endParaRPr sz="2133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67"/>
              </a:spcBef>
              <a:spcAft>
                <a:spcPts val="0"/>
              </a:spcAft>
              <a:buClr>
                <a:srgbClr val="595959"/>
              </a:buClr>
              <a:buSzPts val="2067"/>
              <a:buFont typeface="Arial"/>
              <a:buNone/>
            </a:pPr>
            <a:endParaRPr sz="2067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91150" marR="0" lvl="0" indent="-374217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Char char="•"/>
            </a:pPr>
            <a:r>
              <a:rPr lang="en-US" sz="21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Some data is not accessible through an API</a:t>
            </a:r>
            <a:endParaRPr sz="2133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5" name="Google Shape;145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60771" y="2102553"/>
            <a:ext cx="4591214" cy="3363179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4705"/>
              </a:srgbClr>
            </a:outerShdw>
          </a:effectLst>
        </p:spPr>
      </p:pic>
      <p:sp>
        <p:nvSpPr>
          <p:cNvPr id="146" name="Google Shape;146;p7"/>
          <p:cNvSpPr txBox="1">
            <a:spLocks noGrp="1"/>
          </p:cNvSpPr>
          <p:nvPr>
            <p:ph type="title"/>
          </p:nvPr>
        </p:nvSpPr>
        <p:spPr>
          <a:xfrm>
            <a:off x="607011" y="1616705"/>
            <a:ext cx="6653760" cy="509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925" rIns="0" bIns="0" anchor="ctr" anchorCtr="0">
            <a:spAutoFit/>
          </a:bodyPr>
          <a:lstStyle/>
          <a:p>
            <a:pPr marL="16933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 b="1">
                <a:latin typeface="Arial"/>
                <a:ea typeface="Arial"/>
                <a:cs typeface="Arial"/>
                <a:sym typeface="Arial"/>
              </a:rPr>
              <a:t>Advanced Web Scraping Vs. API</a:t>
            </a:r>
            <a:endParaRPr sz="3200" b="1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8"/>
          <p:cNvSpPr txBox="1"/>
          <p:nvPr/>
        </p:nvSpPr>
        <p:spPr>
          <a:xfrm>
            <a:off x="543335" y="2451963"/>
            <a:ext cx="6902493" cy="2322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925" rIns="0" bIns="0" anchor="t" anchorCtr="0">
            <a:spAutoFit/>
          </a:bodyPr>
          <a:lstStyle/>
          <a:p>
            <a:pPr marL="391150" marR="0" lvl="0" indent="-374217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Char char="•"/>
            </a:pPr>
            <a:r>
              <a:rPr lang="en-US" sz="2133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Web scraping follows this workﬂow:</a:t>
            </a:r>
            <a:endParaRPr sz="2133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l" rtl="0">
              <a:spcBef>
                <a:spcPts val="60"/>
              </a:spcBef>
              <a:spcAft>
                <a:spcPts val="0"/>
              </a:spcAft>
              <a:buClr>
                <a:srgbClr val="595959"/>
              </a:buClr>
              <a:buSzPts val="2067"/>
              <a:buFont typeface="Arial"/>
              <a:buNone/>
            </a:pPr>
            <a:endParaRPr sz="2067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391150" marR="0" lvl="0" indent="-374217" algn="l" rtl="0">
              <a:spcBef>
                <a:spcPts val="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Char char="•"/>
            </a:pPr>
            <a:r>
              <a:rPr lang="en-US" sz="2133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Get the website – using HTTP library</a:t>
            </a:r>
            <a:endParaRPr sz="2133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l" rtl="0">
              <a:spcBef>
                <a:spcPts val="60"/>
              </a:spcBef>
              <a:spcAft>
                <a:spcPts val="0"/>
              </a:spcAft>
              <a:buClr>
                <a:srgbClr val="595959"/>
              </a:buClr>
              <a:buSzPts val="2067"/>
              <a:buFont typeface="Arial"/>
              <a:buNone/>
            </a:pPr>
            <a:endParaRPr sz="2067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391150" marR="6773" lvl="0" indent="-374217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Char char="•"/>
            </a:pPr>
            <a:r>
              <a:rPr lang="en-US" sz="2133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Parse the html document – using any parsing  library</a:t>
            </a:r>
            <a:endParaRPr sz="2133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l" rtl="0">
              <a:spcBef>
                <a:spcPts val="67"/>
              </a:spcBef>
              <a:spcAft>
                <a:spcPts val="0"/>
              </a:spcAft>
              <a:buClr>
                <a:srgbClr val="595959"/>
              </a:buClr>
              <a:buSzPts val="2067"/>
              <a:buFont typeface="Arial"/>
              <a:buNone/>
            </a:pPr>
            <a:endParaRPr sz="2067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391150" marR="0" lvl="0" indent="-374217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Char char="•"/>
            </a:pPr>
            <a:r>
              <a:rPr lang="en-US" sz="2133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Store the results – either a db , csv, txt ﬁle etc.</a:t>
            </a:r>
            <a:endParaRPr sz="2133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153" name="Google Shape;153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77901" y="1685638"/>
            <a:ext cx="3675899" cy="3486723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8"/>
          <p:cNvSpPr txBox="1">
            <a:spLocks noGrp="1"/>
          </p:cNvSpPr>
          <p:nvPr>
            <p:ph type="title"/>
          </p:nvPr>
        </p:nvSpPr>
        <p:spPr>
          <a:xfrm>
            <a:off x="543336" y="1464438"/>
            <a:ext cx="2428464" cy="571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925" rIns="0" bIns="0" anchor="ctr" anchorCtr="0">
            <a:spAutoFit/>
          </a:bodyPr>
          <a:lstStyle/>
          <a:p>
            <a:pPr marL="16933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 b="1">
                <a:latin typeface="Arial"/>
                <a:ea typeface="Arial"/>
                <a:cs typeface="Arial"/>
                <a:sym typeface="Arial"/>
              </a:rPr>
              <a:t>Workflow</a:t>
            </a:r>
            <a:endParaRPr sz="3600" b="1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9"/>
          <p:cNvSpPr txBox="1"/>
          <p:nvPr/>
        </p:nvSpPr>
        <p:spPr>
          <a:xfrm>
            <a:off x="810212" y="2378232"/>
            <a:ext cx="2731347" cy="2412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925" rIns="0" bIns="0" anchor="t" anchorCtr="0">
            <a:spAutoFit/>
          </a:bodyPr>
          <a:lstStyle/>
          <a:p>
            <a:pPr marL="391150" marR="0" lvl="0" indent="-37421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Char char="•"/>
            </a:pPr>
            <a:r>
              <a:rPr lang="en-US" sz="2133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BeautifulSoup (bs4)</a:t>
            </a:r>
            <a:endParaRPr sz="2067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391150" marR="0" lvl="0" indent="-374217" algn="l" rtl="0">
              <a:lnSpc>
                <a:spcPct val="150000"/>
              </a:lnSpc>
              <a:spcBef>
                <a:spcPts val="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Char char="•"/>
            </a:pPr>
            <a:r>
              <a:rPr lang="en-US" sz="2133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Lxml</a:t>
            </a:r>
            <a:endParaRPr sz="2067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391150" marR="0" lvl="0" indent="-37421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Char char="•"/>
            </a:pPr>
            <a:r>
              <a:rPr lang="en-US" sz="2133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Selenium</a:t>
            </a:r>
            <a:endParaRPr sz="2067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391150" marR="0" lvl="0" indent="-37421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Char char="•"/>
            </a:pPr>
            <a:r>
              <a:rPr lang="en-US" sz="2133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Re</a:t>
            </a:r>
            <a:endParaRPr sz="2067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391150" marR="0" lvl="0" indent="-37421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Char char="•"/>
            </a:pPr>
            <a:r>
              <a:rPr lang="en-US" sz="2133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scrapy</a:t>
            </a:r>
            <a:endParaRPr sz="2133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161" name="Google Shape;161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51891" y="1927327"/>
            <a:ext cx="5960395" cy="3525696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4705"/>
              </a:srgbClr>
            </a:outerShdw>
          </a:effectLst>
        </p:spPr>
      </p:pic>
      <p:sp>
        <p:nvSpPr>
          <p:cNvPr id="162" name="Google Shape;162;p9"/>
          <p:cNvSpPr txBox="1">
            <a:spLocks noGrp="1"/>
          </p:cNvSpPr>
          <p:nvPr>
            <p:ph type="title"/>
          </p:nvPr>
        </p:nvSpPr>
        <p:spPr>
          <a:xfrm>
            <a:off x="810212" y="1403013"/>
            <a:ext cx="2237788" cy="571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925" rIns="0" bIns="0" anchor="ctr" anchorCtr="0">
            <a:spAutoFit/>
          </a:bodyPr>
          <a:lstStyle/>
          <a:p>
            <a:pPr marL="16933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 b="1">
                <a:latin typeface="Arial"/>
                <a:ea typeface="Arial"/>
                <a:cs typeface="Arial"/>
                <a:sym typeface="Arial"/>
              </a:rPr>
              <a:t>Libraries</a:t>
            </a:r>
            <a:endParaRPr sz="3600" b="1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0"/>
          <p:cNvSpPr txBox="1"/>
          <p:nvPr/>
        </p:nvSpPr>
        <p:spPr>
          <a:xfrm>
            <a:off x="815781" y="2524495"/>
            <a:ext cx="10233300" cy="10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925" rIns="0" bIns="0" anchor="t" anchorCtr="0">
            <a:spAutoFit/>
          </a:bodyPr>
          <a:lstStyle/>
          <a:p>
            <a:pPr marL="16933" marR="6773" lvl="0" indent="0" algn="ctr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33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In short, the action of web scraping is not  illegal. However, some rules need to be  followed. Web scraping is illegal when non-publicly available data is extracted.</a:t>
            </a:r>
            <a:endParaRPr sz="2133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69" name="Google Shape;169;p10"/>
          <p:cNvSpPr txBox="1">
            <a:spLocks noGrp="1"/>
          </p:cNvSpPr>
          <p:nvPr>
            <p:ph type="title"/>
          </p:nvPr>
        </p:nvSpPr>
        <p:spPr>
          <a:xfrm>
            <a:off x="3796030" y="1686515"/>
            <a:ext cx="4599939" cy="509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925" rIns="0" bIns="0" anchor="ctr" anchorCtr="0">
            <a:spAutoFit/>
          </a:bodyPr>
          <a:lstStyle/>
          <a:p>
            <a:pPr marL="16933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 b="1">
                <a:latin typeface="Arial"/>
                <a:ea typeface="Arial"/>
                <a:cs typeface="Arial"/>
                <a:sym typeface="Arial"/>
              </a:rPr>
              <a:t>Is Web Scraping Legal?</a:t>
            </a:r>
            <a:endParaRPr sz="3200" b="1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1"/>
          <p:cNvSpPr txBox="1">
            <a:spLocks noGrp="1"/>
          </p:cNvSpPr>
          <p:nvPr>
            <p:ph type="title"/>
          </p:nvPr>
        </p:nvSpPr>
        <p:spPr>
          <a:xfrm>
            <a:off x="4517250" y="2798318"/>
            <a:ext cx="3158913" cy="1084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925" rIns="0" bIns="0" anchor="ctr" anchorCtr="0">
            <a:spAutoFit/>
          </a:bodyPr>
          <a:lstStyle/>
          <a:p>
            <a:pPr marL="16933" marR="6773" lvl="0" indent="77214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66"/>
              <a:buFont typeface="Calibri"/>
              <a:buNone/>
            </a:pPr>
            <a:r>
              <a:rPr lang="en-US" sz="3466"/>
              <a:t>Demo 1  Beautiful Soup</a:t>
            </a:r>
            <a:endParaRPr sz="3466"/>
          </a:p>
        </p:txBody>
      </p:sp>
      <p:sp>
        <p:nvSpPr>
          <p:cNvPr id="176" name="Google Shape;176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2"/>
          <p:cNvSpPr txBox="1">
            <a:spLocks noGrp="1"/>
          </p:cNvSpPr>
          <p:nvPr>
            <p:ph type="title"/>
          </p:nvPr>
        </p:nvSpPr>
        <p:spPr>
          <a:xfrm>
            <a:off x="5080841" y="2798316"/>
            <a:ext cx="2031153" cy="1084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925" rIns="0" bIns="0" anchor="ctr" anchorCtr="0">
            <a:spAutoFit/>
          </a:bodyPr>
          <a:lstStyle/>
          <a:p>
            <a:pPr marL="16933" marR="6773" lvl="0" indent="1930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66"/>
              <a:buFont typeface="Calibri"/>
              <a:buNone/>
            </a:pPr>
            <a:r>
              <a:rPr lang="en-US" sz="3466"/>
              <a:t>Demo 2  Selenium</a:t>
            </a:r>
            <a:endParaRPr sz="3466"/>
          </a:p>
        </p:txBody>
      </p:sp>
      <p:sp>
        <p:nvSpPr>
          <p:cNvPr id="182" name="Google Shape;182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3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3"/>
          <p:cNvSpPr/>
          <p:nvPr/>
        </p:nvSpPr>
        <p:spPr>
          <a:xfrm>
            <a:off x="10711512" y="330214"/>
            <a:ext cx="1284576" cy="637759"/>
          </a:xfrm>
          <a:custGeom>
            <a:avLst/>
            <a:gdLst/>
            <a:ahLst/>
            <a:cxnLst/>
            <a:rect l="l" t="t" r="r" b="b"/>
            <a:pathLst>
              <a:path w="1926864" h="956638" extrusionOk="0">
                <a:moveTo>
                  <a:pt x="0" y="0"/>
                </a:moveTo>
                <a:lnTo>
                  <a:pt x="1926864" y="0"/>
                </a:lnTo>
                <a:lnTo>
                  <a:pt x="1926864" y="956638"/>
                </a:lnTo>
                <a:lnTo>
                  <a:pt x="0" y="9566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3"/>
          <p:cNvSpPr/>
          <p:nvPr/>
        </p:nvSpPr>
        <p:spPr>
          <a:xfrm>
            <a:off x="838200" y="6338919"/>
            <a:ext cx="2743200" cy="382588"/>
          </a:xfrm>
          <a:custGeom>
            <a:avLst/>
            <a:gdLst/>
            <a:ahLst/>
            <a:cxnLst/>
            <a:rect l="l" t="t" r="r" b="b"/>
            <a:pathLst>
              <a:path w="5486400" h="765175" extrusionOk="0">
                <a:moveTo>
                  <a:pt x="0" y="0"/>
                </a:moveTo>
                <a:lnTo>
                  <a:pt x="5486400" y="0"/>
                </a:lnTo>
                <a:lnTo>
                  <a:pt x="5486400" y="765175"/>
                </a:lnTo>
                <a:lnTo>
                  <a:pt x="0" y="765175"/>
                </a:lnTo>
                <a:close/>
              </a:path>
            </a:pathLst>
          </a:custGeom>
          <a:solidFill>
            <a:srgbClr val="1869A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3"/>
          <p:cNvSpPr/>
          <p:nvPr/>
        </p:nvSpPr>
        <p:spPr>
          <a:xfrm>
            <a:off x="93318" y="0"/>
            <a:ext cx="1489765" cy="1386637"/>
          </a:xfrm>
          <a:custGeom>
            <a:avLst/>
            <a:gdLst/>
            <a:ahLst/>
            <a:cxnLst/>
            <a:rect l="l" t="t" r="r" b="b"/>
            <a:pathLst>
              <a:path w="2234648" h="2079956" extrusionOk="0">
                <a:moveTo>
                  <a:pt x="0" y="0"/>
                </a:moveTo>
                <a:lnTo>
                  <a:pt x="2234648" y="0"/>
                </a:lnTo>
                <a:lnTo>
                  <a:pt x="2234648" y="2079956"/>
                </a:lnTo>
                <a:lnTo>
                  <a:pt x="0" y="20799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3"/>
          <p:cNvSpPr/>
          <p:nvPr/>
        </p:nvSpPr>
        <p:spPr>
          <a:xfrm>
            <a:off x="10974189" y="6344016"/>
            <a:ext cx="466090" cy="431928"/>
          </a:xfrm>
          <a:custGeom>
            <a:avLst/>
            <a:gdLst/>
            <a:ahLst/>
            <a:cxnLst/>
            <a:rect l="l" t="t" r="r" b="b"/>
            <a:pathLst>
              <a:path w="932180" h="863854" extrusionOk="0">
                <a:moveTo>
                  <a:pt x="0" y="0"/>
                </a:moveTo>
                <a:lnTo>
                  <a:pt x="932180" y="0"/>
                </a:lnTo>
                <a:lnTo>
                  <a:pt x="932180" y="863854"/>
                </a:lnTo>
                <a:lnTo>
                  <a:pt x="0" y="863854"/>
                </a:lnTo>
                <a:close/>
              </a:path>
            </a:pathLst>
          </a:custGeom>
          <a:solidFill>
            <a:srgbClr val="1869A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3"/>
          <p:cNvSpPr/>
          <p:nvPr/>
        </p:nvSpPr>
        <p:spPr>
          <a:xfrm>
            <a:off x="10711512" y="330214"/>
            <a:ext cx="1284576" cy="637759"/>
          </a:xfrm>
          <a:custGeom>
            <a:avLst/>
            <a:gdLst/>
            <a:ahLst/>
            <a:cxnLst/>
            <a:rect l="l" t="t" r="r" b="b"/>
            <a:pathLst>
              <a:path w="1926864" h="956638" extrusionOk="0">
                <a:moveTo>
                  <a:pt x="0" y="0"/>
                </a:moveTo>
                <a:lnTo>
                  <a:pt x="1926864" y="0"/>
                </a:lnTo>
                <a:lnTo>
                  <a:pt x="1926864" y="956638"/>
                </a:lnTo>
                <a:lnTo>
                  <a:pt x="0" y="9566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3"/>
          <p:cNvSpPr/>
          <p:nvPr/>
        </p:nvSpPr>
        <p:spPr>
          <a:xfrm>
            <a:off x="93318" y="0"/>
            <a:ext cx="1489765" cy="1386637"/>
          </a:xfrm>
          <a:custGeom>
            <a:avLst/>
            <a:gdLst/>
            <a:ahLst/>
            <a:cxnLst/>
            <a:rect l="l" t="t" r="r" b="b"/>
            <a:pathLst>
              <a:path w="2234648" h="2079956" extrusionOk="0">
                <a:moveTo>
                  <a:pt x="0" y="0"/>
                </a:moveTo>
                <a:lnTo>
                  <a:pt x="2234648" y="0"/>
                </a:lnTo>
                <a:lnTo>
                  <a:pt x="2234648" y="2079956"/>
                </a:lnTo>
                <a:lnTo>
                  <a:pt x="0" y="20799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3"/>
          <p:cNvSpPr txBox="1"/>
          <p:nvPr/>
        </p:nvSpPr>
        <p:spPr>
          <a:xfrm>
            <a:off x="899160" y="6380481"/>
            <a:ext cx="2621280" cy="243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4/30/2024</a:t>
            </a:r>
            <a:endParaRPr/>
          </a:p>
        </p:txBody>
      </p:sp>
      <p:sp>
        <p:nvSpPr>
          <p:cNvPr id="195" name="Google Shape;195;p13"/>
          <p:cNvSpPr txBox="1"/>
          <p:nvPr/>
        </p:nvSpPr>
        <p:spPr>
          <a:xfrm>
            <a:off x="8671560" y="6386831"/>
            <a:ext cx="2621280" cy="179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34</a:t>
            </a:r>
            <a:endParaRPr/>
          </a:p>
        </p:txBody>
      </p:sp>
      <p:pic>
        <p:nvPicPr>
          <p:cNvPr id="196" name="Google Shape;196;p13" descr="A red and blue chat bubbles with white letters&#10;&#10;Description automatically generated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232401" y="1498601"/>
            <a:ext cx="6533252" cy="4744876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13"/>
          <p:cNvSpPr txBox="1"/>
          <p:nvPr/>
        </p:nvSpPr>
        <p:spPr>
          <a:xfrm>
            <a:off x="129328" y="1674445"/>
            <a:ext cx="5715000" cy="487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1C3D5E"/>
                </a:solidFill>
                <a:latin typeface="Arial"/>
                <a:ea typeface="Arial"/>
                <a:cs typeface="Arial"/>
                <a:sym typeface="Arial"/>
              </a:rPr>
              <a:t>Questions &amp; Answers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4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4"/>
          <p:cNvSpPr/>
          <p:nvPr/>
        </p:nvSpPr>
        <p:spPr>
          <a:xfrm>
            <a:off x="10711512" y="330214"/>
            <a:ext cx="1284576" cy="637759"/>
          </a:xfrm>
          <a:custGeom>
            <a:avLst/>
            <a:gdLst/>
            <a:ahLst/>
            <a:cxnLst/>
            <a:rect l="l" t="t" r="r" b="b"/>
            <a:pathLst>
              <a:path w="1926864" h="956638" extrusionOk="0">
                <a:moveTo>
                  <a:pt x="0" y="0"/>
                </a:moveTo>
                <a:lnTo>
                  <a:pt x="1926864" y="0"/>
                </a:lnTo>
                <a:lnTo>
                  <a:pt x="1926864" y="956638"/>
                </a:lnTo>
                <a:lnTo>
                  <a:pt x="0" y="9566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4"/>
          <p:cNvSpPr/>
          <p:nvPr/>
        </p:nvSpPr>
        <p:spPr>
          <a:xfrm>
            <a:off x="838200" y="6338919"/>
            <a:ext cx="2743200" cy="382588"/>
          </a:xfrm>
          <a:custGeom>
            <a:avLst/>
            <a:gdLst/>
            <a:ahLst/>
            <a:cxnLst/>
            <a:rect l="l" t="t" r="r" b="b"/>
            <a:pathLst>
              <a:path w="5486400" h="765175" extrusionOk="0">
                <a:moveTo>
                  <a:pt x="0" y="0"/>
                </a:moveTo>
                <a:lnTo>
                  <a:pt x="5486400" y="0"/>
                </a:lnTo>
                <a:lnTo>
                  <a:pt x="5486400" y="765175"/>
                </a:lnTo>
                <a:lnTo>
                  <a:pt x="0" y="765175"/>
                </a:lnTo>
                <a:close/>
              </a:path>
            </a:pathLst>
          </a:custGeom>
          <a:solidFill>
            <a:srgbClr val="1869A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4"/>
          <p:cNvSpPr/>
          <p:nvPr/>
        </p:nvSpPr>
        <p:spPr>
          <a:xfrm>
            <a:off x="93318" y="0"/>
            <a:ext cx="1489765" cy="1386637"/>
          </a:xfrm>
          <a:custGeom>
            <a:avLst/>
            <a:gdLst/>
            <a:ahLst/>
            <a:cxnLst/>
            <a:rect l="l" t="t" r="r" b="b"/>
            <a:pathLst>
              <a:path w="2234648" h="2079956" extrusionOk="0">
                <a:moveTo>
                  <a:pt x="0" y="0"/>
                </a:moveTo>
                <a:lnTo>
                  <a:pt x="2234648" y="0"/>
                </a:lnTo>
                <a:lnTo>
                  <a:pt x="2234648" y="2079956"/>
                </a:lnTo>
                <a:lnTo>
                  <a:pt x="0" y="20799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4"/>
          <p:cNvSpPr/>
          <p:nvPr/>
        </p:nvSpPr>
        <p:spPr>
          <a:xfrm>
            <a:off x="10974189" y="6344016"/>
            <a:ext cx="466090" cy="431928"/>
          </a:xfrm>
          <a:custGeom>
            <a:avLst/>
            <a:gdLst/>
            <a:ahLst/>
            <a:cxnLst/>
            <a:rect l="l" t="t" r="r" b="b"/>
            <a:pathLst>
              <a:path w="932180" h="863854" extrusionOk="0">
                <a:moveTo>
                  <a:pt x="0" y="0"/>
                </a:moveTo>
                <a:lnTo>
                  <a:pt x="932180" y="0"/>
                </a:lnTo>
                <a:lnTo>
                  <a:pt x="932180" y="863854"/>
                </a:lnTo>
                <a:lnTo>
                  <a:pt x="0" y="863854"/>
                </a:lnTo>
                <a:close/>
              </a:path>
            </a:pathLst>
          </a:custGeom>
          <a:solidFill>
            <a:srgbClr val="1869A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4"/>
          <p:cNvSpPr/>
          <p:nvPr/>
        </p:nvSpPr>
        <p:spPr>
          <a:xfrm>
            <a:off x="10711512" y="330214"/>
            <a:ext cx="1284576" cy="637759"/>
          </a:xfrm>
          <a:custGeom>
            <a:avLst/>
            <a:gdLst/>
            <a:ahLst/>
            <a:cxnLst/>
            <a:rect l="l" t="t" r="r" b="b"/>
            <a:pathLst>
              <a:path w="1926864" h="956638" extrusionOk="0">
                <a:moveTo>
                  <a:pt x="0" y="0"/>
                </a:moveTo>
                <a:lnTo>
                  <a:pt x="1926864" y="0"/>
                </a:lnTo>
                <a:lnTo>
                  <a:pt x="1926864" y="956638"/>
                </a:lnTo>
                <a:lnTo>
                  <a:pt x="0" y="9566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4"/>
          <p:cNvSpPr/>
          <p:nvPr/>
        </p:nvSpPr>
        <p:spPr>
          <a:xfrm>
            <a:off x="93318" y="0"/>
            <a:ext cx="1489765" cy="1386637"/>
          </a:xfrm>
          <a:custGeom>
            <a:avLst/>
            <a:gdLst/>
            <a:ahLst/>
            <a:cxnLst/>
            <a:rect l="l" t="t" r="r" b="b"/>
            <a:pathLst>
              <a:path w="2234648" h="2079956" extrusionOk="0">
                <a:moveTo>
                  <a:pt x="0" y="0"/>
                </a:moveTo>
                <a:lnTo>
                  <a:pt x="2234648" y="0"/>
                </a:lnTo>
                <a:lnTo>
                  <a:pt x="2234648" y="2079956"/>
                </a:lnTo>
                <a:lnTo>
                  <a:pt x="0" y="20799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4"/>
          <p:cNvSpPr txBox="1"/>
          <p:nvPr/>
        </p:nvSpPr>
        <p:spPr>
          <a:xfrm>
            <a:off x="899160" y="6380481"/>
            <a:ext cx="2621280" cy="243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4/30/2024</a:t>
            </a:r>
            <a:endParaRPr/>
          </a:p>
        </p:txBody>
      </p:sp>
      <p:sp>
        <p:nvSpPr>
          <p:cNvPr id="210" name="Google Shape;210;p14"/>
          <p:cNvSpPr txBox="1"/>
          <p:nvPr/>
        </p:nvSpPr>
        <p:spPr>
          <a:xfrm>
            <a:off x="8671560" y="6386831"/>
            <a:ext cx="2621280" cy="179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35</a:t>
            </a:r>
            <a:endParaRPr/>
          </a:p>
        </p:txBody>
      </p:sp>
      <p:sp>
        <p:nvSpPr>
          <p:cNvPr id="211" name="Google Shape;211;p14"/>
          <p:cNvSpPr txBox="1"/>
          <p:nvPr/>
        </p:nvSpPr>
        <p:spPr>
          <a:xfrm>
            <a:off x="3238500" y="3015159"/>
            <a:ext cx="5715000" cy="553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400">
                <a:solidFill>
                  <a:srgbClr val="1C3D5E"/>
                </a:solidFill>
                <a:latin typeface="Arial"/>
                <a:ea typeface="Arial"/>
                <a:cs typeface="Arial"/>
                <a:sym typeface="Arial"/>
              </a:rPr>
              <a:t>Thank you!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14</Slides>
  <Notes>14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PowerPoint Presentation</vt:lpstr>
      <vt:lpstr>PowerPoint Presentation</vt:lpstr>
      <vt:lpstr>Course Overview</vt:lpstr>
      <vt:lpstr>Session Content</vt:lpstr>
      <vt:lpstr>What is Web Scraping?</vt:lpstr>
      <vt:lpstr>Web Scraping in Real Life</vt:lpstr>
      <vt:lpstr>Advanced Web Scraping Vs. API</vt:lpstr>
      <vt:lpstr>Workflow</vt:lpstr>
      <vt:lpstr>Libraries</vt:lpstr>
      <vt:lpstr>Is Web Scraping Legal?</vt:lpstr>
      <vt:lpstr>Demo 1  Beautiful Soup</vt:lpstr>
      <vt:lpstr>Demo 2  Selenium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SAMA</dc:creator>
  <cp:revision>2</cp:revision>
  <dcterms:created xsi:type="dcterms:W3CDTF">2024-03-14T10:03:54Z</dcterms:created>
  <dcterms:modified xsi:type="dcterms:W3CDTF">2024-11-28T16:17:23Z</dcterms:modified>
</cp:coreProperties>
</file>